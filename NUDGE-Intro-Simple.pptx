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Andrew (20 sec): Our question is simple. What do tourist reviews tell us about how to improve Hokuriku tourism? It has two parts: which problems lower ratings, so we can fix them; and which good places get too few visitors, so we can promote them. We read 6,036 reviews from 80 Hokuriku sites to answer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Andrew (30 sec): Reviews show two things - pain points, and reasons people visit. Some pain points can shrink with clearer information before the trip; that is an information nudge. Others, like crowding, we address by guiding visitors toward quieter good places. We rank these low-cost ideas to test next. This is exploratory: it finds experiments to test, not proof of cause and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r>
              <a:rPr sz="1300" b="1" i="0" spc="20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I.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94415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Our research question</a:t>
            </a:r>
          </a:p>
          <a:p>
            <a:pPr>
              <a:spcBef>
                <a:spcPts val="0"/>
              </a:spcBef>
            </a:pPr>
            <a:r>
              <a:rPr sz="15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私たちの研究の問い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What do tourist reviews tell us about how to improve Hokuriku tourism?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口コミは、北陸の観光をどう良くできるかを教えてくれるか?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3756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Which problems lower ratings?</a:t>
            </a:r>
          </a:p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どの問題が評価を下げるか?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→ fix it  改善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333756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Which good places get too few visitors?</a:t>
            </a:r>
          </a:p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良い場所で、来訪が少ないのはどこか?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C5AB0"/>
                </a:solidFill>
                <a:latin typeface="Century Gothic"/>
                <a:ea typeface="Century Gothic"/>
                <a:cs typeface="Century Gothic"/>
              </a:rPr>
              <a:t>→ promote it  推奨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5A6573"/>
                </a:solidFill>
                <a:latin typeface="Century Gothic"/>
                <a:ea typeface="Century Gothic"/>
                <a:cs typeface="Century Gothic"/>
              </a:rPr>
              <a:t>We read 6,036 reviews from 80 Hokuriku sites to answer this.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北陸80スポットの口コミ6,036件で、これに答える。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6733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A6573"/>
                </a:solidFill>
                <a:latin typeface="Century Gothic"/>
                <a:ea typeface="Century Gothic"/>
                <a:cs typeface="Century Gothic"/>
              </a:rPr>
              <a:t>2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r>
              <a:rPr sz="1300" b="1" i="0" spc="20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I.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1094415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Our approach: small nudges</a:t>
            </a:r>
          </a:p>
          <a:p>
            <a:pPr>
              <a:spcBef>
                <a:spcPts val="0"/>
              </a:spcBef>
            </a:pPr>
            <a:r>
              <a:rPr sz="15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私たちの方法:小さなナッジ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76656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4181D"/>
                </a:solidFill>
                <a:latin typeface="Century Gothic"/>
                <a:ea typeface="Century Gothic"/>
                <a:cs typeface="Century Gothic"/>
              </a:rPr>
              <a:t>•  Reviews show pain points and reasons to visit.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　 口コミは、不満点と訪問の理由を示す。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4181D"/>
                </a:solidFill>
                <a:latin typeface="Century Gothic"/>
                <a:ea typeface="Century Gothic"/>
                <a:cs typeface="Century Gothic"/>
              </a:rPr>
              <a:t>•  Some pain points shrink with better information before the trip.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　 一部の不満は、旅行前の分かりやすい情報で減る。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0" i="0">
                <a:solidFill>
                  <a:srgbClr val="14181D"/>
                </a:solidFill>
                <a:latin typeface="Century Gothic"/>
                <a:ea typeface="Century Gothic"/>
                <a:cs typeface="Century Gothic"/>
              </a:rPr>
              <a:t>•  We rank low-cost ideas (nudges) to test next.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　 次に検証する、低コストの案(ナッジ)を順位づける。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011680"/>
            <a:ext cx="3822191" cy="1417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Information provision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情報提供</a:t>
            </a:r>
          </a:p>
          <a:p>
            <a:pPr algn="ctr">
              <a:spcAft>
                <a:spcPts val="100"/>
              </a:spcAft>
            </a:pPr>
            <a:r>
              <a:rPr sz="1150" b="0" i="0">
                <a:solidFill>
                  <a:srgbClr val="14181D"/>
                </a:solidFill>
                <a:latin typeface="Century Gothic"/>
                <a:ea typeface="Century Gothic"/>
                <a:cs typeface="Century Gothic"/>
              </a:rPr>
              <a:t>Give clear info before the visit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訪問前に分かりやすい情報を渡す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3611880"/>
            <a:ext cx="3822191" cy="141732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3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Demand redistribution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需要の再配分</a:t>
            </a:r>
          </a:p>
          <a:p>
            <a:pPr algn="ctr">
              <a:spcAft>
                <a:spcPts val="100"/>
              </a:spcAft>
            </a:pPr>
            <a:r>
              <a:rPr sz="1150" b="0" i="0">
                <a:solidFill>
                  <a:srgbClr val="14181D"/>
                </a:solidFill>
                <a:latin typeface="Century Gothic"/>
                <a:ea typeface="Century Gothic"/>
                <a:cs typeface="Century Gothic"/>
              </a:rPr>
              <a:t>Guide visitors to quieter good places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空いている良い場所へ誘導する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71500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 w="9525">
            <a:solidFill>
              <a:srgbClr val="D3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82296" bIns="8229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6345E"/>
                </a:solidFill>
                <a:latin typeface="Century Gothic"/>
                <a:ea typeface="Century Gothic"/>
                <a:cs typeface="Century Gothic"/>
              </a:rPr>
              <a:t>Exploratory study: it finds experiments to test, not proof of cause and effect.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3"/>
                </a:solidFill>
                <a:latin typeface="Yu Gothic"/>
                <a:ea typeface="Yu Gothic"/>
                <a:cs typeface="Yu Gothic"/>
              </a:rPr>
              <a:t>探索的研究:検証する実験を見つけるもので、因果関係の証明ではない。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6733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A6573"/>
                </a:solidFill>
                <a:latin typeface="Century Gothic"/>
                <a:ea typeface="Century Gothic"/>
                <a:cs typeface="Century Gothic"/>
              </a:rPr>
              <a:t>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