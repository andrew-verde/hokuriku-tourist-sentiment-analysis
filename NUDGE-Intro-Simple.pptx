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Andrew (20 sec): Our question is simple. What do tourist reviews tell us about how to improve Hokuriku tourism? It has two parts: which problems lower ratings, so we can fix them; and which good places get too few visitors, so we can promote them. We read 6,036 reviews from 80 Hokuriku sites to answer this.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Andrew (30 sec): We began with hypotheses, not solutions. For each reviewed aspect, we tested whether its presence was associated with a low star rating. We adjusted for review length, language, and prefecture, then applied an FDR check. Opening hours, itinerary fit, and wayfinding were useful signals for the final ranking. Earlier language-gap tests moved to the appendix. These are exploratory associations, not causal effects.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1094415" cy="310896"/>
          </a:xfrm>
          <a:prstGeom prst="rect">
            <a:avLst/>
          </a:prstGeom>
          <a:noFill/>
        </p:spPr>
        <p:txBody>
          <a:bodyPr wrap="square" anchor="t" lIns="36576" rIns="36576" tIns="18288" bIns="18288">
            <a:spAutoFit/>
          </a:bodyPr>
          <a:lstStyle/>
          <a:p>
            <a:r>
              <a:rPr sz="1300" b="1" i="0" spc="200">
                <a:solidFill>
                  <a:srgbClr val="16345E"/>
                </a:solidFill>
                <a:latin typeface="Century Gothic"/>
                <a:ea typeface="Century Gothic"/>
                <a:cs typeface="Century Gothic"/>
              </a:rPr>
              <a:t>I.  INTRODUCTION</a:t>
            </a:r>
          </a:p>
        </p:txBody>
      </p:sp>
      <p:sp>
        <p:nvSpPr>
          <p:cNvPr id="3" name="TextBox 2"/>
          <p:cNvSpPr txBox="1"/>
          <p:nvPr/>
        </p:nvSpPr>
        <p:spPr>
          <a:xfrm>
            <a:off x="548640" y="768096"/>
            <a:ext cx="11094415" cy="1051560"/>
          </a:xfrm>
          <a:prstGeom prst="rect">
            <a:avLst/>
          </a:prstGeom>
          <a:noFill/>
        </p:spPr>
        <p:txBody>
          <a:bodyPr wrap="square" anchor="t" lIns="36576" rIns="36576" tIns="18288" bIns="18288">
            <a:spAutoFit/>
          </a:bodyPr>
          <a:lstStyle/>
          <a:p>
            <a:pPr>
              <a:spcAft>
                <a:spcPts val="200"/>
              </a:spcAft>
            </a:pPr>
            <a:r>
              <a:rPr sz="3200" b="1" i="0">
                <a:solidFill>
                  <a:srgbClr val="16345E"/>
                </a:solidFill>
                <a:latin typeface="Century Gothic"/>
                <a:ea typeface="Century Gothic"/>
                <a:cs typeface="Century Gothic"/>
              </a:rPr>
              <a:t>Our research question</a:t>
            </a:r>
          </a:p>
          <a:p>
            <a:pPr>
              <a:spcBef>
                <a:spcPts val="0"/>
              </a:spcBef>
            </a:pPr>
            <a:r>
              <a:rPr sz="1500" b="0" i="0">
                <a:solidFill>
                  <a:srgbClr val="5A6573"/>
                </a:solidFill>
                <a:latin typeface="Yu Gothic"/>
                <a:ea typeface="Yu Gothic"/>
                <a:cs typeface="Yu Gothic"/>
              </a:rPr>
              <a:t>私たちの研究の問い</a:t>
            </a:r>
          </a:p>
        </p:txBody>
      </p:sp>
      <p:sp>
        <p:nvSpPr>
          <p:cNvPr id="4" name="TextBox 3"/>
          <p:cNvSpPr txBox="1"/>
          <p:nvPr/>
        </p:nvSpPr>
        <p:spPr>
          <a:xfrm>
            <a:off x="548640" y="1783080"/>
            <a:ext cx="11094415" cy="1280160"/>
          </a:xfrm>
          <a:prstGeom prst="rect">
            <a:avLst/>
          </a:prstGeom>
          <a:noFill/>
        </p:spPr>
        <p:txBody>
          <a:bodyPr wrap="square" anchor="t" lIns="36576" rIns="36576" tIns="18288" bIns="18288">
            <a:spAutoFit/>
          </a:bodyPr>
          <a:lstStyle/>
          <a:p>
            <a:pPr algn="l">
              <a:spcBef>
                <a:spcPts val="0"/>
              </a:spcBef>
              <a:spcAft>
                <a:spcPts val="100"/>
              </a:spcAft>
            </a:pPr>
            <a:r>
              <a:rPr sz="2600" b="1" i="0">
                <a:solidFill>
                  <a:srgbClr val="16345E"/>
                </a:solidFill>
                <a:latin typeface="Century Gothic"/>
                <a:ea typeface="Century Gothic"/>
                <a:cs typeface="Century Gothic"/>
              </a:rPr>
              <a:t>What do tourist reviews tell us about how to improve Hokuriku tourism?</a:t>
            </a:r>
          </a:p>
          <a:p>
            <a:pPr algn="l">
              <a:spcBef>
                <a:spcPts val="0"/>
              </a:spcBef>
              <a:spcAft>
                <a:spcPts val="0"/>
              </a:spcAft>
            </a:pPr>
            <a:r>
              <a:rPr sz="1600" b="0" i="0">
                <a:solidFill>
                  <a:srgbClr val="5A6573"/>
                </a:solidFill>
                <a:latin typeface="Yu Gothic"/>
                <a:ea typeface="Yu Gothic"/>
                <a:cs typeface="Yu Gothic"/>
              </a:rPr>
              <a:t>口コミは、北陸の観光をどう良くできるかを教えてくれるか?</a:t>
            </a:r>
          </a:p>
        </p:txBody>
      </p:sp>
      <p:sp>
        <p:nvSpPr>
          <p:cNvPr id="5" name="Rounded Rectangle 4"/>
          <p:cNvSpPr/>
          <p:nvPr/>
        </p:nvSpPr>
        <p:spPr>
          <a:xfrm>
            <a:off x="548640" y="3337560"/>
            <a:ext cx="5486400" cy="1783080"/>
          </a:xfrm>
          <a:prstGeom prst="roundRect">
            <a:avLst>
              <a:gd name="adj" fmla="val 4000"/>
            </a:avLst>
          </a:prstGeom>
          <a:solidFill>
            <a:srgbClr val="F4F6F8"/>
          </a:solidFill>
          <a:ln w="9525">
            <a:solidFill>
              <a:srgbClr val="D3D9E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100584" bIns="100584"/>
          <a:lstStyle/>
          <a:p>
            <a:pPr algn="ctr">
              <a:spcAft>
                <a:spcPts val="200"/>
              </a:spcAft>
            </a:pPr>
            <a:r>
              <a:rPr sz="1900" b="1" i="0">
                <a:solidFill>
                  <a:srgbClr val="16345E"/>
                </a:solidFill>
                <a:latin typeface="Century Gothic"/>
                <a:ea typeface="Century Gothic"/>
                <a:cs typeface="Century Gothic"/>
              </a:rPr>
              <a:t>Which problems lower ratings?</a:t>
            </a:r>
          </a:p>
          <a:p>
            <a:pPr algn="ctr">
              <a:spcAft>
                <a:spcPts val="800"/>
              </a:spcAft>
            </a:pPr>
            <a:r>
              <a:rPr sz="1250" b="0" i="0">
                <a:solidFill>
                  <a:srgbClr val="5A6573"/>
                </a:solidFill>
                <a:latin typeface="Yu Gothic"/>
                <a:ea typeface="Yu Gothic"/>
                <a:cs typeface="Yu Gothic"/>
              </a:rPr>
              <a:t>どの問題が評価を下げるか?</a:t>
            </a:r>
          </a:p>
          <a:p>
            <a:pPr algn="ctr">
              <a:spcAft>
                <a:spcPts val="0"/>
              </a:spcAft>
            </a:pPr>
            <a:r>
              <a:rPr sz="1500" b="1" i="0">
                <a:solidFill>
                  <a:srgbClr val="16345E"/>
                </a:solidFill>
                <a:latin typeface="Century Gothic"/>
                <a:ea typeface="Century Gothic"/>
                <a:cs typeface="Century Gothic"/>
              </a:rPr>
              <a:t>→ fix it  改善</a:t>
            </a:r>
          </a:p>
        </p:txBody>
      </p:sp>
      <p:sp>
        <p:nvSpPr>
          <p:cNvPr id="6" name="Rounded Rectangle 5"/>
          <p:cNvSpPr/>
          <p:nvPr/>
        </p:nvSpPr>
        <p:spPr>
          <a:xfrm>
            <a:off x="6336792" y="3337560"/>
            <a:ext cx="5486400" cy="1783080"/>
          </a:xfrm>
          <a:prstGeom prst="roundRect">
            <a:avLst>
              <a:gd name="adj" fmla="val 4000"/>
            </a:avLst>
          </a:prstGeom>
          <a:solidFill>
            <a:srgbClr val="F4F6F8"/>
          </a:solidFill>
          <a:ln w="9525">
            <a:solidFill>
              <a:srgbClr val="D3D9E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100584" bIns="100584"/>
          <a:lstStyle/>
          <a:p>
            <a:pPr algn="ctr">
              <a:spcAft>
                <a:spcPts val="200"/>
              </a:spcAft>
            </a:pPr>
            <a:r>
              <a:rPr sz="1900" b="1" i="0">
                <a:solidFill>
                  <a:srgbClr val="16345E"/>
                </a:solidFill>
                <a:latin typeface="Century Gothic"/>
                <a:ea typeface="Century Gothic"/>
                <a:cs typeface="Century Gothic"/>
              </a:rPr>
              <a:t>Which good places get too few visitors?</a:t>
            </a:r>
          </a:p>
          <a:p>
            <a:pPr algn="ctr">
              <a:spcAft>
                <a:spcPts val="800"/>
              </a:spcAft>
            </a:pPr>
            <a:r>
              <a:rPr sz="1250" b="0" i="0">
                <a:solidFill>
                  <a:srgbClr val="5A6573"/>
                </a:solidFill>
                <a:latin typeface="Yu Gothic"/>
                <a:ea typeface="Yu Gothic"/>
                <a:cs typeface="Yu Gothic"/>
              </a:rPr>
              <a:t>良い場所で、来訪が少ないのはどこか?</a:t>
            </a:r>
          </a:p>
          <a:p>
            <a:pPr algn="ctr">
              <a:spcAft>
                <a:spcPts val="0"/>
              </a:spcAft>
            </a:pPr>
            <a:r>
              <a:rPr sz="1500" b="1" i="0">
                <a:solidFill>
                  <a:srgbClr val="2C5AB0"/>
                </a:solidFill>
                <a:latin typeface="Century Gothic"/>
                <a:ea typeface="Century Gothic"/>
                <a:cs typeface="Century Gothic"/>
              </a:rPr>
              <a:t>→ promote it  推奨</a:t>
            </a:r>
          </a:p>
        </p:txBody>
      </p:sp>
      <p:sp>
        <p:nvSpPr>
          <p:cNvPr id="7" name="TextBox 6"/>
          <p:cNvSpPr txBox="1"/>
          <p:nvPr/>
        </p:nvSpPr>
        <p:spPr>
          <a:xfrm>
            <a:off x="548640" y="5440680"/>
            <a:ext cx="11094415" cy="548640"/>
          </a:xfrm>
          <a:prstGeom prst="rect">
            <a:avLst/>
          </a:prstGeom>
          <a:noFill/>
        </p:spPr>
        <p:txBody>
          <a:bodyPr wrap="square" anchor="t" lIns="36576" rIns="36576" tIns="18288" bIns="18288">
            <a:spAutoFit/>
          </a:bodyPr>
          <a:lstStyle/>
          <a:p>
            <a:pPr algn="l">
              <a:spcBef>
                <a:spcPts val="0"/>
              </a:spcBef>
              <a:spcAft>
                <a:spcPts val="100"/>
              </a:spcAft>
            </a:pPr>
            <a:r>
              <a:rPr sz="1500" b="0" i="0">
                <a:solidFill>
                  <a:srgbClr val="5A6573"/>
                </a:solidFill>
                <a:latin typeface="Century Gothic"/>
                <a:ea typeface="Century Gothic"/>
                <a:cs typeface="Century Gothic"/>
              </a:rPr>
              <a:t>We read 6,036 reviews from 80 Hokuriku sites to answer this.</a:t>
            </a:r>
          </a:p>
          <a:p>
            <a:pPr algn="l">
              <a:spcBef>
                <a:spcPts val="0"/>
              </a:spcBef>
              <a:spcAft>
                <a:spcPts val="0"/>
              </a:spcAft>
            </a:pPr>
            <a:r>
              <a:rPr sz="1150" b="0" i="0">
                <a:solidFill>
                  <a:srgbClr val="5A6573"/>
                </a:solidFill>
                <a:latin typeface="Yu Gothic"/>
                <a:ea typeface="Yu Gothic"/>
                <a:cs typeface="Yu Gothic"/>
              </a:rPr>
              <a:t>北陸80スポットの口コミ6,036件で、これに答える。</a:t>
            </a:r>
          </a:p>
        </p:txBody>
      </p:sp>
      <p:sp>
        <p:nvSpPr>
          <p:cNvPr id="8" name="TextBox 7"/>
          <p:cNvSpPr txBox="1"/>
          <p:nvPr/>
        </p:nvSpPr>
        <p:spPr>
          <a:xfrm>
            <a:off x="10058400" y="6437376"/>
            <a:ext cx="1673352" cy="274320"/>
          </a:xfrm>
          <a:prstGeom prst="rect">
            <a:avLst/>
          </a:prstGeom>
          <a:noFill/>
        </p:spPr>
        <p:txBody>
          <a:bodyPr wrap="square" anchor="t" lIns="36576" rIns="36576" tIns="18288" bIns="18288">
            <a:spAutoFit/>
          </a:bodyPr>
          <a:lstStyle/>
          <a:p>
            <a:pPr algn="r"/>
            <a:r>
              <a:rPr sz="1000" b="0" i="0">
                <a:solidFill>
                  <a:srgbClr val="5A6573"/>
                </a:solidFill>
                <a:latin typeface="Century Gothic"/>
                <a:ea typeface="Century Gothic"/>
                <a:cs typeface="Century Gothic"/>
              </a:rPr>
              <a:t>2 / 13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1094415" cy="310896"/>
          </a:xfrm>
          <a:prstGeom prst="rect">
            <a:avLst/>
          </a:prstGeom>
          <a:noFill/>
        </p:spPr>
        <p:txBody>
          <a:bodyPr wrap="square" anchor="t" lIns="36576" rIns="36576" tIns="18288" bIns="18288">
            <a:spAutoFit/>
          </a:bodyPr>
          <a:lstStyle/>
          <a:p>
            <a:r>
              <a:rPr sz="1300" b="1" i="0" spc="200">
                <a:solidFill>
                  <a:srgbClr val="16345E"/>
                </a:solidFill>
                <a:latin typeface="Century Gothic"/>
                <a:ea typeface="Century Gothic"/>
                <a:cs typeface="Century Gothic"/>
              </a:rPr>
              <a:t>I.  INTRODUCTION</a:t>
            </a:r>
          </a:p>
        </p:txBody>
      </p:sp>
      <p:sp>
        <p:nvSpPr>
          <p:cNvPr id="3" name="TextBox 2"/>
          <p:cNvSpPr txBox="1"/>
          <p:nvPr/>
        </p:nvSpPr>
        <p:spPr>
          <a:xfrm>
            <a:off x="548640" y="768096"/>
            <a:ext cx="11094415" cy="1051560"/>
          </a:xfrm>
          <a:prstGeom prst="rect">
            <a:avLst/>
          </a:prstGeom>
          <a:noFill/>
        </p:spPr>
        <p:txBody>
          <a:bodyPr wrap="square" anchor="t" lIns="36576" rIns="36576" tIns="18288" bIns="18288">
            <a:spAutoFit/>
          </a:bodyPr>
          <a:lstStyle/>
          <a:p>
            <a:pPr>
              <a:spcAft>
                <a:spcPts val="200"/>
              </a:spcAft>
            </a:pPr>
            <a:r>
              <a:rPr sz="3200" b="1" i="0">
                <a:solidFill>
                  <a:srgbClr val="16345E"/>
                </a:solidFill>
                <a:latin typeface="Century Gothic"/>
                <a:ea typeface="Century Gothic"/>
                <a:cs typeface="Century Gothic"/>
              </a:rPr>
              <a:t>What we tested</a:t>
            </a:r>
          </a:p>
          <a:p>
            <a:pPr>
              <a:spcBef>
                <a:spcPts val="0"/>
              </a:spcBef>
            </a:pPr>
            <a:r>
              <a:rPr sz="1500" b="0" i="0">
                <a:solidFill>
                  <a:srgbClr val="5A6573"/>
                </a:solidFill>
                <a:latin typeface="Yu Gothic"/>
                <a:ea typeface="Yu Gothic"/>
                <a:cs typeface="Yu Gothic"/>
              </a:rPr>
              <a:t>私たちが検証したこと</a:t>
            </a:r>
          </a:p>
        </p:txBody>
      </p:sp>
      <p:sp>
        <p:nvSpPr>
          <p:cNvPr id="4" name="TextBox 3"/>
          <p:cNvSpPr txBox="1"/>
          <p:nvPr/>
        </p:nvSpPr>
        <p:spPr>
          <a:xfrm>
            <a:off x="548640" y="1965960"/>
            <a:ext cx="6766560" cy="3383280"/>
          </a:xfrm>
          <a:prstGeom prst="rect">
            <a:avLst/>
          </a:prstGeom>
          <a:noFill/>
        </p:spPr>
        <p:txBody>
          <a:bodyPr wrap="square" anchor="t" lIns="36576" rIns="36576" tIns="18288" bIns="18288">
            <a:spAutoFit/>
          </a:bodyPr>
          <a:lstStyle/>
          <a:p>
            <a:pPr algn="l">
              <a:spcBef>
                <a:spcPts val="0"/>
              </a:spcBef>
              <a:spcAft>
                <a:spcPts val="100"/>
              </a:spcAft>
            </a:pPr>
            <a:r>
              <a:rPr sz="1700" b="0" i="0">
                <a:solidFill>
                  <a:srgbClr val="14181D"/>
                </a:solidFill>
                <a:latin typeface="Century Gothic"/>
                <a:ea typeface="Century Gothic"/>
                <a:cs typeface="Century Gothic"/>
              </a:rPr>
              <a:t>•  We tested whether each review aspect was associated with a low rating.</a:t>
            </a:r>
          </a:p>
          <a:p>
            <a:pPr algn="l">
              <a:spcBef>
                <a:spcPts val="0"/>
              </a:spcBef>
              <a:spcAft>
                <a:spcPts val="1600"/>
              </a:spcAft>
            </a:pPr>
            <a:r>
              <a:rPr sz="1200" b="0" i="0">
                <a:solidFill>
                  <a:srgbClr val="5A6573"/>
                </a:solidFill>
                <a:latin typeface="Yu Gothic"/>
                <a:ea typeface="Yu Gothic"/>
                <a:cs typeface="Yu Gothic"/>
              </a:rPr>
              <a:t>　 口コミの各要素が低評価と関連するかを検証した。</a:t>
            </a:r>
          </a:p>
          <a:p>
            <a:pPr algn="l">
              <a:spcBef>
                <a:spcPts val="0"/>
              </a:spcBef>
              <a:spcAft>
                <a:spcPts val="100"/>
              </a:spcAft>
            </a:pPr>
            <a:r>
              <a:rPr sz="1700" b="0" i="0">
                <a:solidFill>
                  <a:srgbClr val="14181D"/>
                </a:solidFill>
                <a:latin typeface="Century Gothic"/>
                <a:ea typeface="Century Gothic"/>
                <a:cs typeface="Century Gothic"/>
              </a:rPr>
              <a:t>•  We adjusted for review length, language, and prefecture.</a:t>
            </a:r>
          </a:p>
          <a:p>
            <a:pPr algn="l">
              <a:spcBef>
                <a:spcPts val="0"/>
              </a:spcBef>
              <a:spcAft>
                <a:spcPts val="1600"/>
              </a:spcAft>
            </a:pPr>
            <a:r>
              <a:rPr sz="1200" b="0" i="0">
                <a:solidFill>
                  <a:srgbClr val="5A6573"/>
                </a:solidFill>
                <a:latin typeface="Yu Gothic"/>
                <a:ea typeface="Yu Gothic"/>
                <a:cs typeface="Yu Gothic"/>
              </a:rPr>
              <a:t>　 口コミの長さ、言語、県を調整した。</a:t>
            </a:r>
          </a:p>
          <a:p>
            <a:pPr algn="l">
              <a:spcBef>
                <a:spcPts val="0"/>
              </a:spcBef>
              <a:spcAft>
                <a:spcPts val="100"/>
              </a:spcAft>
            </a:pPr>
            <a:r>
              <a:rPr sz="1700" b="0" i="0">
                <a:solidFill>
                  <a:srgbClr val="14181D"/>
                </a:solidFill>
                <a:latin typeface="Century Gothic"/>
                <a:ea typeface="Century Gothic"/>
                <a:cs typeface="Century Gothic"/>
              </a:rPr>
              <a:t>•  We kept harmful associations that passed the FDR check.</a:t>
            </a:r>
          </a:p>
          <a:p>
            <a:pPr algn="l">
              <a:spcBef>
                <a:spcPts val="0"/>
              </a:spcBef>
              <a:spcAft>
                <a:spcPts val="0"/>
              </a:spcAft>
            </a:pPr>
            <a:r>
              <a:rPr sz="1200" b="0" i="0">
                <a:solidFill>
                  <a:srgbClr val="5A6573"/>
                </a:solidFill>
                <a:latin typeface="Yu Gothic"/>
                <a:ea typeface="Yu Gothic"/>
                <a:cs typeface="Yu Gothic"/>
              </a:rPr>
              <a:t>　 FDR検定を通過した、低評価との関連を残した。</a:t>
            </a:r>
          </a:p>
        </p:txBody>
      </p:sp>
      <p:sp>
        <p:nvSpPr>
          <p:cNvPr id="5" name="Rounded Rectangle 4"/>
          <p:cNvSpPr/>
          <p:nvPr/>
        </p:nvSpPr>
        <p:spPr>
          <a:xfrm>
            <a:off x="7818120" y="2011680"/>
            <a:ext cx="3822191" cy="1417320"/>
          </a:xfrm>
          <a:prstGeom prst="roundRect">
            <a:avLst>
              <a:gd name="adj" fmla="val 4000"/>
            </a:avLst>
          </a:prstGeom>
          <a:solidFill>
            <a:srgbClr val="F4F6F8"/>
          </a:solidFill>
          <a:ln w="9525">
            <a:solidFill>
              <a:srgbClr val="D3D9E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100584" bIns="100584"/>
          <a:lstStyle/>
          <a:p>
            <a:pPr algn="ctr">
              <a:spcAft>
                <a:spcPts val="100"/>
              </a:spcAft>
            </a:pPr>
            <a:r>
              <a:rPr sz="1450" b="1" i="0">
                <a:solidFill>
                  <a:srgbClr val="16345E"/>
                </a:solidFill>
                <a:latin typeface="Century Gothic"/>
                <a:ea typeface="Century Gothic"/>
                <a:cs typeface="Century Gothic"/>
              </a:rPr>
              <a:t>These tests shaped the final ranking.</a:t>
            </a:r>
          </a:p>
          <a:p>
            <a:pPr algn="ctr">
              <a:spcAft>
                <a:spcPts val="600"/>
              </a:spcAft>
            </a:pPr>
            <a:r>
              <a:rPr sz="1150" b="0" i="0">
                <a:solidFill>
                  <a:srgbClr val="5A6573"/>
                </a:solidFill>
                <a:latin typeface="Yu Gothic"/>
                <a:ea typeface="Yu Gothic"/>
                <a:cs typeface="Yu Gothic"/>
              </a:rPr>
              <a:t>この検定結果が最終順位を決めた。</a:t>
            </a:r>
          </a:p>
          <a:p>
            <a:pPr algn="ctr">
              <a:spcAft>
                <a:spcPts val="100"/>
              </a:spcAft>
            </a:pPr>
            <a:r>
              <a:rPr sz="1150" b="0" i="0">
                <a:solidFill>
                  <a:srgbClr val="14181D"/>
                </a:solidFill>
                <a:latin typeface="Century Gothic"/>
                <a:ea typeface="Century Gothic"/>
                <a:cs typeface="Century Gothic"/>
              </a:rPr>
              <a:t>Opening hours, itinerary fit, and wayfinding passed the FDR check.</a:t>
            </a:r>
          </a:p>
          <a:p>
            <a:pPr algn="ctr">
              <a:spcAft>
                <a:spcPts val="0"/>
              </a:spcAft>
            </a:pPr>
            <a:r>
              <a:rPr sz="1000" b="0" i="0">
                <a:solidFill>
                  <a:srgbClr val="5A6573"/>
                </a:solidFill>
                <a:latin typeface="Yu Gothic"/>
                <a:ea typeface="Yu Gothic"/>
                <a:cs typeface="Yu Gothic"/>
              </a:rPr>
              <a:t>営業時間、旅程適合、案内表示がFDR検定を通過した。</a:t>
            </a:r>
          </a:p>
        </p:txBody>
      </p:sp>
      <p:sp>
        <p:nvSpPr>
          <p:cNvPr id="6" name="Rounded Rectangle 5"/>
          <p:cNvSpPr/>
          <p:nvPr/>
        </p:nvSpPr>
        <p:spPr>
          <a:xfrm>
            <a:off x="7818120" y="3611880"/>
            <a:ext cx="3822191" cy="1417320"/>
          </a:xfrm>
          <a:prstGeom prst="roundRect">
            <a:avLst>
              <a:gd name="adj" fmla="val 4000"/>
            </a:avLst>
          </a:prstGeom>
          <a:solidFill>
            <a:srgbClr val="F4F6F8"/>
          </a:solidFill>
          <a:ln w="9525">
            <a:solidFill>
              <a:srgbClr val="D3D9E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100584" bIns="100584"/>
          <a:lstStyle/>
          <a:p>
            <a:pPr algn="ctr">
              <a:spcAft>
                <a:spcPts val="100"/>
              </a:spcAft>
            </a:pPr>
            <a:r>
              <a:rPr sz="1450" b="1" i="0">
                <a:solidFill>
                  <a:srgbClr val="16345E"/>
                </a:solidFill>
                <a:latin typeface="Century Gothic"/>
                <a:ea typeface="Century Gothic"/>
                <a:cs typeface="Century Gothic"/>
              </a:rPr>
              <a:t>Earlier language-gap tests moved to the appendix.</a:t>
            </a:r>
          </a:p>
          <a:p>
            <a:pPr algn="ctr">
              <a:spcAft>
                <a:spcPts val="600"/>
              </a:spcAft>
            </a:pPr>
            <a:r>
              <a:rPr sz="1150" b="0" i="0">
                <a:solidFill>
                  <a:srgbClr val="5A6573"/>
                </a:solidFill>
                <a:latin typeface="Yu Gothic"/>
                <a:ea typeface="Yu Gothic"/>
                <a:cs typeface="Yu Gothic"/>
              </a:rPr>
              <a:t>以前の言語差検定は付録へ移した。</a:t>
            </a:r>
          </a:p>
          <a:p>
            <a:pPr algn="ctr">
              <a:spcAft>
                <a:spcPts val="100"/>
              </a:spcAft>
            </a:pPr>
            <a:r>
              <a:rPr sz="1150" b="0" i="0">
                <a:solidFill>
                  <a:srgbClr val="14181D"/>
                </a:solidFill>
                <a:latin typeface="Century Gothic"/>
                <a:ea typeface="Century Gothic"/>
                <a:cs typeface="Century Gothic"/>
              </a:rPr>
              <a:t>Their measurement limits kept them from the headline.</a:t>
            </a:r>
          </a:p>
          <a:p>
            <a:pPr algn="ctr">
              <a:spcAft>
                <a:spcPts val="0"/>
              </a:spcAft>
            </a:pPr>
            <a:r>
              <a:rPr sz="1000" b="0" i="0">
                <a:solidFill>
                  <a:srgbClr val="5A6573"/>
                </a:solidFill>
                <a:latin typeface="Yu Gothic"/>
                <a:ea typeface="Yu Gothic"/>
                <a:cs typeface="Yu Gothic"/>
              </a:rPr>
              <a:t>測定上の限界があるため、主要結果にはしなかった。</a:t>
            </a:r>
          </a:p>
        </p:txBody>
      </p:sp>
      <p:sp>
        <p:nvSpPr>
          <p:cNvPr id="7" name="Rounded Rectangle 6"/>
          <p:cNvSpPr/>
          <p:nvPr/>
        </p:nvSpPr>
        <p:spPr>
          <a:xfrm>
            <a:off x="548640" y="5715000"/>
            <a:ext cx="6766560" cy="640080"/>
          </a:xfrm>
          <a:prstGeom prst="roundRect">
            <a:avLst>
              <a:gd name="adj" fmla="val 6000"/>
            </a:avLst>
          </a:prstGeom>
          <a:solidFill>
            <a:srgbClr val="EAF0F8"/>
          </a:solidFill>
          <a:ln w="9525">
            <a:solidFill>
              <a:srgbClr val="D3D9E2"/>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82296" bIns="82296"/>
          <a:lstStyle/>
          <a:p>
            <a:pPr algn="l">
              <a:spcBef>
                <a:spcPts val="0"/>
              </a:spcBef>
              <a:spcAft>
                <a:spcPts val="100"/>
              </a:spcAft>
            </a:pPr>
            <a:r>
              <a:rPr sz="1400" b="0" i="0">
                <a:solidFill>
                  <a:srgbClr val="16345E"/>
                </a:solidFill>
                <a:latin typeface="Century Gothic"/>
                <a:ea typeface="Century Gothic"/>
                <a:cs typeface="Century Gothic"/>
              </a:rPr>
              <a:t>Exploratory study: these are adjusted associations, not causal effects.</a:t>
            </a:r>
          </a:p>
          <a:p>
            <a:pPr algn="l">
              <a:spcBef>
                <a:spcPts val="0"/>
              </a:spcBef>
              <a:spcAft>
                <a:spcPts val="0"/>
              </a:spcAft>
            </a:pPr>
            <a:r>
              <a:rPr sz="1150" b="0" i="0">
                <a:solidFill>
                  <a:srgbClr val="5A6573"/>
                </a:solidFill>
                <a:latin typeface="Yu Gothic"/>
                <a:ea typeface="Yu Gothic"/>
                <a:cs typeface="Yu Gothic"/>
              </a:rPr>
              <a:t>探索的研究:これは調整済みの関連であり、因果効果ではない。</a:t>
            </a:r>
          </a:p>
        </p:txBody>
      </p:sp>
      <p:sp>
        <p:nvSpPr>
          <p:cNvPr id="8" name="TextBox 7"/>
          <p:cNvSpPr txBox="1"/>
          <p:nvPr/>
        </p:nvSpPr>
        <p:spPr>
          <a:xfrm>
            <a:off x="10058400" y="6437376"/>
            <a:ext cx="1673352" cy="274320"/>
          </a:xfrm>
          <a:prstGeom prst="rect">
            <a:avLst/>
          </a:prstGeom>
          <a:noFill/>
        </p:spPr>
        <p:txBody>
          <a:bodyPr wrap="square" anchor="t" lIns="36576" rIns="36576" tIns="18288" bIns="18288">
            <a:spAutoFit/>
          </a:bodyPr>
          <a:lstStyle/>
          <a:p>
            <a:pPr algn="r"/>
            <a:r>
              <a:rPr sz="1000" b="0" i="0">
                <a:solidFill>
                  <a:srgbClr val="5A6573"/>
                </a:solidFill>
                <a:latin typeface="Century Gothic"/>
                <a:ea typeface="Century Gothic"/>
                <a:cs typeface="Century Gothic"/>
              </a:rPr>
              <a:t>3 / 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