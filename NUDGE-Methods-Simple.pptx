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Lynn (45 sec): Our dataset is 6,036 Google reviews from 80 sites in Fukui, Ishikawa, and Toyama. The rating model uses 4,037 Japanese, 919 English, and 243 Chinese-language reviews. 'Language' is the language of the text, not the reviewer's nationality. We only publish aggregate counts; raw text never leaves the project. [For Q&amp;A: a further 797 reviews were other languages and 40 were undetected or too short; a separate set of 200 Xiaohongshu posts is shown later.]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Andrew (50 sec): We tag each review with the 18 topics it mentions, using keyword lists a person reviewed. A low rating means 3 stars or fewer: 851 of 5,199 reviews. For each problem topic we ask whether mentioning it goes with a low rating more often. The Google star rating is our common outcome, so we never compare sentiment scores across different languages.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Andrew (60 sec spoken, plain): For each topic we run a fair comparison that accounts for review length, language, and prefecture. Because we test many topics, we tighten the bar to avoid false alarms. A topic is kept only if the link is solid, harmful, and seen at least 20 times. We then label each survivor as something information can help or something the operator must fix.</a:t>
            </a:r>
          </a:p>
          <a:p/>
          <a:p>
            <a:r>
              <a:t>--- FULL METHOD (for Q&amp;A / examiners; do NOT read aloud) ---</a:t>
            </a:r>
          </a:p>
          <a:p>
            <a:r>
              <a:t>Model: Firth bias-reduced (penalized) logistic regression, one per aspect; outcome = low rating (3 stars or fewer); adjusted for text length, review language, and prefecture. Firth was chosen because several aspects were rarely mentioned, which makes ordinary logistic regression unstable. Output: an adjusted odds ratio with a 95% confidence interval and a p-value for each model (18 primary models, 47 across all segments). Multiple testing: Benjamini-Hochberg FDR. Ranking gate: FDR-significant AND a harmful association (odds ratio &gt; 1) AND at least 20 pooled mentions. Sanity check: for 4 selected aspects, Firth and standard-logit estimates agreed closely (maximum |delta log OR| = 0.013); smallest model p = 1.2×10⁻⁹. Caveat: POI-level clustering is not modeled in the Firth estimates, so row-level uncertainty may be understated; this is exploratory ranking, not a causal claim. Full table and CIs are in Seminar-Speaker-Script-and-QA.docx.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310896"/>
          </a:xfrm>
          <a:prstGeom prst="rect">
            <a:avLst/>
          </a:prstGeom>
          <a:noFill/>
        </p:spPr>
        <p:txBody>
          <a:bodyPr wrap="square" anchor="t" lIns="36576" rIns="36576" tIns="18288" bIns="18288">
            <a:spAutoFit/>
          </a:bodyPr>
          <a:lstStyle/>
          <a:p>
            <a:r>
              <a:rPr sz="1300" b="1" i="0" spc="200">
                <a:solidFill>
                  <a:srgbClr val="16345E"/>
                </a:solidFill>
                <a:latin typeface="Century Gothic"/>
                <a:ea typeface="Century Gothic"/>
                <a:cs typeface="Century Gothic"/>
              </a:rPr>
              <a:t>II.  METHODS</a:t>
            </a:r>
          </a:p>
        </p:txBody>
      </p:sp>
      <p:sp>
        <p:nvSpPr>
          <p:cNvPr id="3" name="TextBox 2"/>
          <p:cNvSpPr txBox="1"/>
          <p:nvPr/>
        </p:nvSpPr>
        <p:spPr>
          <a:xfrm>
            <a:off x="548640" y="768096"/>
            <a:ext cx="11094415" cy="1051560"/>
          </a:xfrm>
          <a:prstGeom prst="rect">
            <a:avLst/>
          </a:prstGeom>
          <a:noFill/>
        </p:spPr>
        <p:txBody>
          <a:bodyPr wrap="square" anchor="t" lIns="36576" rIns="36576" tIns="18288" bIns="18288">
            <a:spAutoFit/>
          </a:bodyPr>
          <a:lstStyle/>
          <a:p>
            <a:pPr>
              <a:spcAft>
                <a:spcPts val="200"/>
              </a:spcAft>
            </a:pPr>
            <a:r>
              <a:rPr sz="3200" b="1" i="0">
                <a:solidFill>
                  <a:srgbClr val="16345E"/>
                </a:solidFill>
                <a:latin typeface="Century Gothic"/>
                <a:ea typeface="Century Gothic"/>
                <a:cs typeface="Century Gothic"/>
              </a:rPr>
              <a:t>The data</a:t>
            </a:r>
          </a:p>
          <a:p>
            <a:pPr>
              <a:spcBef>
                <a:spcPts val="0"/>
              </a:spcBef>
            </a:pPr>
            <a:r>
              <a:rPr sz="1500" b="0" i="0">
                <a:solidFill>
                  <a:srgbClr val="5A6573"/>
                </a:solidFill>
                <a:latin typeface="Yu Gothic"/>
                <a:ea typeface="Yu Gothic"/>
                <a:cs typeface="Yu Gothic"/>
              </a:rPr>
              <a:t>データ</a:t>
            </a:r>
          </a:p>
        </p:txBody>
      </p:sp>
      <p:sp>
        <p:nvSpPr>
          <p:cNvPr id="4" name="Rounded Rectangle 3"/>
          <p:cNvSpPr/>
          <p:nvPr/>
        </p:nvSpPr>
        <p:spPr>
          <a:xfrm>
            <a:off x="548640" y="1874519"/>
            <a:ext cx="5212080" cy="1874519"/>
          </a:xfrm>
          <a:prstGeom prst="roundRect">
            <a:avLst>
              <a:gd name="adj" fmla="val 4000"/>
            </a:avLst>
          </a:prstGeom>
          <a:solidFill>
            <a:srgbClr val="F4F6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0584" bIns="100584"/>
          <a:lstStyle/>
          <a:p>
            <a:pPr algn="l"/>
            <a:r>
              <a:rPr sz="1600" b="1" i="0">
                <a:solidFill>
                  <a:srgbClr val="16345E"/>
                </a:solidFill>
                <a:latin typeface="Century Gothic"/>
                <a:ea typeface="Century Gothic"/>
                <a:cs typeface="Century Gothic"/>
              </a:rPr>
              <a:t>Tagged reviews</a:t>
            </a:r>
          </a:p>
          <a:p>
            <a:r>
              <a:rPr sz="1150" b="0" i="0">
                <a:solidFill>
                  <a:srgbClr val="5A6573"/>
                </a:solidFill>
                <a:latin typeface="Yu Gothic"/>
                <a:ea typeface="Yu Gothic"/>
                <a:cs typeface="Yu Gothic"/>
              </a:rPr>
              <a:t>タグ付き口コミ</a:t>
            </a:r>
          </a:p>
          <a:p>
            <a:pPr algn="l">
              <a:spcBef>
                <a:spcPts val="0"/>
              </a:spcBef>
              <a:spcAft>
                <a:spcPts val="100"/>
              </a:spcAft>
            </a:pPr>
            <a:r>
              <a:rPr sz="1700" b="1" i="0">
                <a:solidFill>
                  <a:srgbClr val="16345E"/>
                </a:solidFill>
                <a:latin typeface="Century Gothic"/>
                <a:ea typeface="Century Gothic"/>
                <a:cs typeface="Century Gothic"/>
              </a:rPr>
              <a:t>6,036 Google reviews</a:t>
            </a:r>
          </a:p>
          <a:p>
            <a:pPr algn="l">
              <a:spcBef>
                <a:spcPts val="0"/>
              </a:spcBef>
              <a:spcAft>
                <a:spcPts val="1000"/>
              </a:spcAft>
            </a:pPr>
            <a:r>
              <a:rPr sz="1200" b="0" i="0">
                <a:solidFill>
                  <a:srgbClr val="5A6573"/>
                </a:solidFill>
                <a:latin typeface="Yu Gothic"/>
                <a:ea typeface="Yu Gothic"/>
                <a:cs typeface="Yu Gothic"/>
              </a:rPr>
              <a:t>Google口コミ 6,036件</a:t>
            </a:r>
          </a:p>
          <a:p>
            <a:pPr algn="l">
              <a:spcBef>
                <a:spcPts val="0"/>
              </a:spcBef>
              <a:spcAft>
                <a:spcPts val="100"/>
              </a:spcAft>
            </a:pPr>
            <a:r>
              <a:rPr sz="1400" b="0" i="0">
                <a:solidFill>
                  <a:srgbClr val="14181D"/>
                </a:solidFill>
                <a:latin typeface="Century Gothic"/>
                <a:ea typeface="Century Gothic"/>
                <a:cs typeface="Century Gothic"/>
              </a:rPr>
              <a:t>Japanese 4,037 · English 919 · Chinese 243  (modeled)</a:t>
            </a:r>
          </a:p>
          <a:p>
            <a:pPr algn="l">
              <a:spcBef>
                <a:spcPts val="0"/>
              </a:spcBef>
              <a:spcAft>
                <a:spcPts val="400"/>
              </a:spcAft>
            </a:pPr>
            <a:r>
              <a:rPr sz="1100" b="0" i="0">
                <a:solidFill>
                  <a:srgbClr val="5A6573"/>
                </a:solidFill>
                <a:latin typeface="Yu Gothic"/>
                <a:ea typeface="Yu Gothic"/>
                <a:cs typeface="Yu Gothic"/>
              </a:rPr>
              <a:t>日本語 4,037 ・ 英語 919 ・ 中国語 243(モデル対象)</a:t>
            </a:r>
          </a:p>
          <a:p>
            <a:pPr algn="l">
              <a:spcBef>
                <a:spcPts val="0"/>
              </a:spcBef>
              <a:spcAft>
                <a:spcPts val="100"/>
              </a:spcAft>
            </a:pPr>
            <a:r>
              <a:rPr sz="1250" b="0" i="0">
                <a:solidFill>
                  <a:srgbClr val="5A6573"/>
                </a:solidFill>
                <a:latin typeface="Century Gothic"/>
                <a:ea typeface="Century Gothic"/>
                <a:cs typeface="Century Gothic"/>
              </a:rPr>
              <a:t>Other-language 797 · too-short 40  (not modeled)</a:t>
            </a:r>
          </a:p>
          <a:p>
            <a:pPr algn="l">
              <a:spcBef>
                <a:spcPts val="0"/>
              </a:spcBef>
              <a:spcAft>
                <a:spcPts val="0"/>
              </a:spcAft>
            </a:pPr>
            <a:r>
              <a:rPr sz="1000" b="0" i="0">
                <a:solidFill>
                  <a:srgbClr val="5A6573"/>
                </a:solidFill>
                <a:latin typeface="Yu Gothic"/>
                <a:ea typeface="Yu Gothic"/>
                <a:cs typeface="Yu Gothic"/>
              </a:rPr>
              <a:t>その他言語 797 ・ 短すぎ 40(モデル対象外)</a:t>
            </a:r>
          </a:p>
        </p:txBody>
      </p:sp>
      <p:sp>
        <p:nvSpPr>
          <p:cNvPr id="5" name="Rounded Rectangle 4"/>
          <p:cNvSpPr/>
          <p:nvPr/>
        </p:nvSpPr>
        <p:spPr>
          <a:xfrm>
            <a:off x="548640" y="3931920"/>
            <a:ext cx="5212080" cy="1783080"/>
          </a:xfrm>
          <a:prstGeom prst="roundRect">
            <a:avLst>
              <a:gd name="adj" fmla="val 4000"/>
            </a:avLst>
          </a:prstGeom>
          <a:solidFill>
            <a:srgbClr val="F4F6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0584" bIns="100584"/>
          <a:lstStyle/>
          <a:p>
            <a:pPr algn="l"/>
            <a:r>
              <a:rPr sz="1600" b="1" i="0">
                <a:solidFill>
                  <a:srgbClr val="16345E"/>
                </a:solidFill>
                <a:latin typeface="Century Gothic"/>
                <a:ea typeface="Century Gothic"/>
                <a:cs typeface="Century Gothic"/>
              </a:rPr>
              <a:t>Sites by prefecture</a:t>
            </a:r>
          </a:p>
          <a:p>
            <a:r>
              <a:rPr sz="1150" b="0" i="0">
                <a:solidFill>
                  <a:srgbClr val="5A6573"/>
                </a:solidFill>
                <a:latin typeface="Yu Gothic"/>
                <a:ea typeface="Yu Gothic"/>
                <a:cs typeface="Yu Gothic"/>
              </a:rPr>
              <a:t>県別スポット数</a:t>
            </a:r>
          </a:p>
          <a:p>
            <a:pPr algn="l">
              <a:spcBef>
                <a:spcPts val="0"/>
              </a:spcBef>
              <a:spcAft>
                <a:spcPts val="100"/>
              </a:spcAft>
            </a:pPr>
            <a:r>
              <a:rPr sz="1500" b="0" i="0">
                <a:solidFill>
                  <a:srgbClr val="14181D"/>
                </a:solidFill>
                <a:latin typeface="Century Gothic"/>
                <a:ea typeface="Century Gothic"/>
                <a:cs typeface="Century Gothic"/>
              </a:rPr>
              <a:t>Fukui 28 · Ishikawa 28 · Toyama 24</a:t>
            </a:r>
          </a:p>
          <a:p>
            <a:pPr algn="l">
              <a:spcBef>
                <a:spcPts val="0"/>
              </a:spcBef>
              <a:spcAft>
                <a:spcPts val="1000"/>
              </a:spcAft>
            </a:pPr>
            <a:r>
              <a:rPr sz="1200" b="0" i="0">
                <a:solidFill>
                  <a:srgbClr val="5A6573"/>
                </a:solidFill>
                <a:latin typeface="Yu Gothic"/>
                <a:ea typeface="Yu Gothic"/>
                <a:cs typeface="Yu Gothic"/>
              </a:rPr>
              <a:t>福井 28 ・ 石川 28 ・ 富山 24</a:t>
            </a:r>
          </a:p>
          <a:p>
            <a:pPr algn="l">
              <a:spcBef>
                <a:spcPts val="0"/>
              </a:spcBef>
              <a:spcAft>
                <a:spcPts val="100"/>
              </a:spcAft>
            </a:pPr>
            <a:r>
              <a:rPr sz="1300" b="0" i="0">
                <a:solidFill>
                  <a:srgbClr val="5A6573"/>
                </a:solidFill>
                <a:latin typeface="Century Gothic"/>
                <a:ea typeface="Century Gothic"/>
                <a:cs typeface="Century Gothic"/>
              </a:rPr>
              <a:t>Language means the review language, not the writer's nationality.</a:t>
            </a:r>
          </a:p>
          <a:p>
            <a:pPr algn="l">
              <a:spcBef>
                <a:spcPts val="0"/>
              </a:spcBef>
              <a:spcAft>
                <a:spcPts val="0"/>
              </a:spcAft>
            </a:pPr>
            <a:r>
              <a:rPr sz="1050" b="0" i="0">
                <a:solidFill>
                  <a:srgbClr val="5A6573"/>
                </a:solidFill>
                <a:latin typeface="Yu Gothic"/>
                <a:ea typeface="Yu Gothic"/>
                <a:cs typeface="Yu Gothic"/>
              </a:rPr>
              <a:t>「言語」は口コミの言語であり、書いた人の国籍ではない。</a:t>
            </a:r>
          </a:p>
        </p:txBody>
      </p:sp>
      <p:pic>
        <p:nvPicPr>
          <p:cNvPr id="6" name="Picture 5" descr="nudge_pptx_volume.png"/>
          <p:cNvPicPr>
            <a:picLocks noChangeAspect="1"/>
          </p:cNvPicPr>
          <p:nvPr/>
        </p:nvPicPr>
        <p:blipFill>
          <a:blip r:embed="rId2"/>
          <a:stretch>
            <a:fillRect/>
          </a:stretch>
        </p:blipFill>
        <p:spPr>
          <a:xfrm>
            <a:off x="5989320" y="2536088"/>
            <a:ext cx="5669280" cy="1785823"/>
          </a:xfrm>
          <a:prstGeom prst="rect">
            <a:avLst/>
          </a:prstGeom>
        </p:spPr>
      </p:pic>
      <p:sp>
        <p:nvSpPr>
          <p:cNvPr id="7" name="TextBox 6"/>
          <p:cNvSpPr txBox="1"/>
          <p:nvPr/>
        </p:nvSpPr>
        <p:spPr>
          <a:xfrm>
            <a:off x="6080760" y="5120640"/>
            <a:ext cx="5486400" cy="685800"/>
          </a:xfrm>
          <a:prstGeom prst="rect">
            <a:avLst/>
          </a:prstGeom>
          <a:noFill/>
        </p:spPr>
        <p:txBody>
          <a:bodyPr wrap="square" anchor="t" lIns="36576" rIns="36576" tIns="18288" bIns="18288">
            <a:spAutoFit/>
          </a:bodyPr>
          <a:lstStyle/>
          <a:p>
            <a:pPr>
              <a:spcAft>
                <a:spcPts val="0"/>
              </a:spcAft>
            </a:pPr>
            <a:r>
              <a:rPr sz="1200" b="0" i="1">
                <a:solidFill>
                  <a:srgbClr val="5A6573"/>
                </a:solidFill>
                <a:latin typeface="Century Gothic"/>
                <a:ea typeface="Century Gothic"/>
                <a:cs typeface="Century Gothic"/>
              </a:rPr>
              <a:t>The rating model uses Japanese, English, and Chinese-language Google reviews.</a:t>
            </a:r>
          </a:p>
          <a:p>
            <a:pPr>
              <a:spcBef>
                <a:spcPts val="0"/>
              </a:spcBef>
            </a:pPr>
            <a:r>
              <a:rPr sz="1050" b="0" i="1">
                <a:solidFill>
                  <a:srgbClr val="5A6573"/>
                </a:solidFill>
                <a:latin typeface="Yu Gothic"/>
                <a:ea typeface="Yu Gothic"/>
                <a:cs typeface="Yu Gothic"/>
              </a:rPr>
              <a:t>評価モデルでは、日本語・英語・中国語のGoogle口コミを使用。</a:t>
            </a:r>
          </a:p>
        </p:txBody>
      </p:sp>
      <p:sp>
        <p:nvSpPr>
          <p:cNvPr id="8" name="Rounded Rectangle 7"/>
          <p:cNvSpPr/>
          <p:nvPr/>
        </p:nvSpPr>
        <p:spPr>
          <a:xfrm>
            <a:off x="548640" y="5897880"/>
            <a:ext cx="5212080" cy="640080"/>
          </a:xfrm>
          <a:prstGeom prst="roundRect">
            <a:avLst>
              <a:gd name="adj" fmla="val 6000"/>
            </a:avLst>
          </a:prstGeom>
          <a:solidFill>
            <a:srgbClr val="EAF0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82296" bIns="82296"/>
          <a:lstStyle/>
          <a:p>
            <a:pPr algn="l">
              <a:spcBef>
                <a:spcPts val="0"/>
              </a:spcBef>
              <a:spcAft>
                <a:spcPts val="100"/>
              </a:spcAft>
            </a:pPr>
            <a:r>
              <a:rPr sz="1400" b="0" i="0">
                <a:solidFill>
                  <a:srgbClr val="16345E"/>
                </a:solidFill>
                <a:latin typeface="Century Gothic"/>
                <a:ea typeface="Century Gothic"/>
                <a:cs typeface="Century Gothic"/>
              </a:rPr>
              <a:t>We publish only counts and summaries. Raw review text stays inside the project.</a:t>
            </a:r>
          </a:p>
          <a:p>
            <a:pPr algn="l">
              <a:spcBef>
                <a:spcPts val="0"/>
              </a:spcBef>
              <a:spcAft>
                <a:spcPts val="0"/>
              </a:spcAft>
            </a:pPr>
            <a:r>
              <a:rPr sz="1150" b="0" i="0">
                <a:solidFill>
                  <a:srgbClr val="5A6573"/>
                </a:solidFill>
                <a:latin typeface="Yu Gothic"/>
                <a:ea typeface="Yu Gothic"/>
                <a:cs typeface="Yu Gothic"/>
              </a:rPr>
              <a:t>公開するのは件数と要約のみ。口コミの原文はプロジェクト内に保管する。</a:t>
            </a:r>
          </a:p>
        </p:txBody>
      </p:sp>
      <p:sp>
        <p:nvSpPr>
          <p:cNvPr id="9" name="TextBox 8"/>
          <p:cNvSpPr txBox="1"/>
          <p:nvPr/>
        </p:nvSpPr>
        <p:spPr>
          <a:xfrm>
            <a:off x="10058400" y="6437376"/>
            <a:ext cx="1673352" cy="274320"/>
          </a:xfrm>
          <a:prstGeom prst="rect">
            <a:avLst/>
          </a:prstGeom>
          <a:noFill/>
        </p:spPr>
        <p:txBody>
          <a:bodyPr wrap="square" anchor="t" lIns="36576" rIns="36576" tIns="18288" bIns="18288">
            <a:spAutoFit/>
          </a:bodyPr>
          <a:lstStyle/>
          <a:p>
            <a:pPr algn="r"/>
            <a:r>
              <a:rPr sz="1000" b="0" i="0">
                <a:solidFill>
                  <a:srgbClr val="5A6573"/>
                </a:solidFill>
                <a:latin typeface="Century Gothic"/>
                <a:ea typeface="Century Gothic"/>
                <a:cs typeface="Century Gothic"/>
              </a:rPr>
              <a:t>3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310896"/>
          </a:xfrm>
          <a:prstGeom prst="rect">
            <a:avLst/>
          </a:prstGeom>
          <a:noFill/>
        </p:spPr>
        <p:txBody>
          <a:bodyPr wrap="square" anchor="t" lIns="36576" rIns="36576" tIns="18288" bIns="18288">
            <a:spAutoFit/>
          </a:bodyPr>
          <a:lstStyle/>
          <a:p>
            <a:r>
              <a:rPr sz="1300" b="1" i="0" spc="200">
                <a:solidFill>
                  <a:srgbClr val="16345E"/>
                </a:solidFill>
                <a:latin typeface="Century Gothic"/>
                <a:ea typeface="Century Gothic"/>
                <a:cs typeface="Century Gothic"/>
              </a:rPr>
              <a:t>II.  METHODS</a:t>
            </a:r>
          </a:p>
        </p:txBody>
      </p:sp>
      <p:sp>
        <p:nvSpPr>
          <p:cNvPr id="3" name="TextBox 2"/>
          <p:cNvSpPr txBox="1"/>
          <p:nvPr/>
        </p:nvSpPr>
        <p:spPr>
          <a:xfrm>
            <a:off x="548640" y="768096"/>
            <a:ext cx="11094415" cy="1051560"/>
          </a:xfrm>
          <a:prstGeom prst="rect">
            <a:avLst/>
          </a:prstGeom>
          <a:noFill/>
        </p:spPr>
        <p:txBody>
          <a:bodyPr wrap="square" anchor="t" lIns="36576" rIns="36576" tIns="18288" bIns="18288">
            <a:spAutoFit/>
          </a:bodyPr>
          <a:lstStyle/>
          <a:p>
            <a:pPr>
              <a:spcAft>
                <a:spcPts val="200"/>
              </a:spcAft>
            </a:pPr>
            <a:r>
              <a:rPr sz="3200" b="1" i="0">
                <a:solidFill>
                  <a:srgbClr val="16345E"/>
                </a:solidFill>
                <a:latin typeface="Century Gothic"/>
                <a:ea typeface="Century Gothic"/>
                <a:cs typeface="Century Gothic"/>
              </a:rPr>
              <a:t>Turning review text into signals</a:t>
            </a:r>
          </a:p>
          <a:p>
            <a:pPr>
              <a:spcBef>
                <a:spcPts val="0"/>
              </a:spcBef>
            </a:pPr>
            <a:r>
              <a:rPr sz="1500" b="0" i="0">
                <a:solidFill>
                  <a:srgbClr val="5A6573"/>
                </a:solidFill>
                <a:latin typeface="Yu Gothic"/>
                <a:ea typeface="Yu Gothic"/>
                <a:cs typeface="Yu Gothic"/>
              </a:rPr>
              <a:t>口コミを手がかりに変える</a:t>
            </a:r>
          </a:p>
        </p:txBody>
      </p:sp>
      <p:sp>
        <p:nvSpPr>
          <p:cNvPr id="4" name="TextBox 3"/>
          <p:cNvSpPr txBox="1"/>
          <p:nvPr/>
        </p:nvSpPr>
        <p:spPr>
          <a:xfrm>
            <a:off x="548640" y="1965960"/>
            <a:ext cx="6949440" cy="3657600"/>
          </a:xfrm>
          <a:prstGeom prst="rect">
            <a:avLst/>
          </a:prstGeom>
          <a:noFill/>
        </p:spPr>
        <p:txBody>
          <a:bodyPr wrap="square" anchor="t" lIns="36576" rIns="36576" tIns="18288" bIns="18288">
            <a:spAutoFit/>
          </a:bodyPr>
          <a:lstStyle/>
          <a:p>
            <a:pPr algn="l">
              <a:spcBef>
                <a:spcPts val="0"/>
              </a:spcBef>
              <a:spcAft>
                <a:spcPts val="100"/>
              </a:spcAft>
            </a:pPr>
            <a:r>
              <a:rPr sz="1800" b="0" i="0">
                <a:solidFill>
                  <a:srgbClr val="14181D"/>
                </a:solidFill>
                <a:latin typeface="Century Gothic"/>
                <a:ea typeface="Century Gothic"/>
                <a:cs typeface="Century Gothic"/>
              </a:rPr>
              <a:t>1.  Tag each review with the 18 topics it mentions, using human-checked keyword lists.</a:t>
            </a:r>
          </a:p>
          <a:p>
            <a:pPr algn="l">
              <a:spcBef>
                <a:spcPts val="0"/>
              </a:spcBef>
              <a:spcAft>
                <a:spcPts val="1700"/>
              </a:spcAft>
            </a:pPr>
            <a:r>
              <a:rPr sz="1400" b="0" i="0">
                <a:solidFill>
                  <a:srgbClr val="5A6573"/>
                </a:solidFill>
                <a:latin typeface="Yu Gothic"/>
                <a:ea typeface="Yu Gothic"/>
                <a:cs typeface="Yu Gothic"/>
              </a:rPr>
              <a:t>1.  人が確認したキーワードを使い、各口コミが触れた18の話題に印をつける。</a:t>
            </a:r>
          </a:p>
          <a:p>
            <a:pPr algn="l">
              <a:spcBef>
                <a:spcPts val="0"/>
              </a:spcBef>
              <a:spcAft>
                <a:spcPts val="100"/>
              </a:spcAft>
            </a:pPr>
            <a:r>
              <a:rPr sz="1800" b="0" i="0">
                <a:solidFill>
                  <a:srgbClr val="14181D"/>
                </a:solidFill>
                <a:latin typeface="Century Gothic"/>
                <a:ea typeface="Century Gothic"/>
                <a:cs typeface="Century Gothic"/>
              </a:rPr>
              <a:t>2.  Call a review "low-rated" if it gave 3 stars or fewer: 851 of 5,199 reviews.</a:t>
            </a:r>
          </a:p>
          <a:p>
            <a:pPr algn="l">
              <a:spcBef>
                <a:spcPts val="0"/>
              </a:spcBef>
              <a:spcAft>
                <a:spcPts val="1700"/>
              </a:spcAft>
            </a:pPr>
            <a:r>
              <a:rPr sz="1400" b="0" i="0">
                <a:solidFill>
                  <a:srgbClr val="5A6573"/>
                </a:solidFill>
                <a:latin typeface="Yu Gothic"/>
                <a:ea typeface="Yu Gothic"/>
                <a:cs typeface="Yu Gothic"/>
              </a:rPr>
              <a:t>2.  3つ星以下を「低評価」とする：5,199件中851件。</a:t>
            </a:r>
          </a:p>
          <a:p>
            <a:pPr algn="l">
              <a:spcBef>
                <a:spcPts val="0"/>
              </a:spcBef>
              <a:spcAft>
                <a:spcPts val="100"/>
              </a:spcAft>
            </a:pPr>
            <a:r>
              <a:rPr sz="1800" b="0" i="0">
                <a:solidFill>
                  <a:srgbClr val="14181D"/>
                </a:solidFill>
                <a:latin typeface="Century Gothic"/>
                <a:ea typeface="Century Gothic"/>
                <a:cs typeface="Century Gothic"/>
              </a:rPr>
              <a:t>3.  For each problem topic, ask: do reviews that mention it get low ratings more often?</a:t>
            </a:r>
          </a:p>
          <a:p>
            <a:pPr algn="l">
              <a:spcBef>
                <a:spcPts val="0"/>
              </a:spcBef>
              <a:spcAft>
                <a:spcPts val="1700"/>
              </a:spcAft>
            </a:pPr>
            <a:r>
              <a:rPr sz="1400" b="0" i="0">
                <a:solidFill>
                  <a:srgbClr val="5A6573"/>
                </a:solidFill>
                <a:latin typeface="Yu Gothic"/>
                <a:ea typeface="Yu Gothic"/>
                <a:cs typeface="Yu Gothic"/>
              </a:rPr>
              <a:t>3.  各問題の話題について、それに触れた口コミは低評価が多いかを調べる。</a:t>
            </a:r>
          </a:p>
          <a:p>
            <a:pPr algn="l">
              <a:spcBef>
                <a:spcPts val="0"/>
              </a:spcBef>
              <a:spcAft>
                <a:spcPts val="100"/>
              </a:spcAft>
            </a:pPr>
            <a:r>
              <a:rPr sz="1800" b="0" i="0">
                <a:solidFill>
                  <a:srgbClr val="14181D"/>
                </a:solidFill>
                <a:latin typeface="Century Gothic"/>
                <a:ea typeface="Century Gothic"/>
                <a:cs typeface="Century Gothic"/>
              </a:rPr>
              <a:t>•  The Google star rating is the shared yardstick. We do not compare sentiment-tool scores between languages.</a:t>
            </a:r>
          </a:p>
          <a:p>
            <a:pPr algn="l">
              <a:spcBef>
                <a:spcPts val="0"/>
              </a:spcBef>
              <a:spcAft>
                <a:spcPts val="0"/>
              </a:spcAft>
            </a:pPr>
            <a:r>
              <a:rPr sz="1400" b="0" i="0">
                <a:solidFill>
                  <a:srgbClr val="5A6573"/>
                </a:solidFill>
                <a:latin typeface="Yu Gothic"/>
                <a:ea typeface="Yu Gothic"/>
                <a:cs typeface="Yu Gothic"/>
              </a:rPr>
              <a:t>　 共通のものさしはGoogleの星評価。感情ツールの点数は言語間で比較しない。</a:t>
            </a:r>
          </a:p>
        </p:txBody>
      </p:sp>
      <p:sp>
        <p:nvSpPr>
          <p:cNvPr id="5" name="Rounded Rectangle 4"/>
          <p:cNvSpPr/>
          <p:nvPr/>
        </p:nvSpPr>
        <p:spPr>
          <a:xfrm>
            <a:off x="7818120" y="2011680"/>
            <a:ext cx="3703320" cy="1463040"/>
          </a:xfrm>
          <a:prstGeom prst="roundRect">
            <a:avLst>
              <a:gd name="adj" fmla="val 4000"/>
            </a:avLst>
          </a:prstGeom>
          <a:solidFill>
            <a:srgbClr val="F4F6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200"/>
              </a:spcAft>
            </a:pPr>
            <a:r>
              <a:rPr sz="4200" b="1" i="0">
                <a:solidFill>
                  <a:srgbClr val="16345E"/>
                </a:solidFill>
                <a:latin typeface="Century Gothic"/>
                <a:ea typeface="Century Gothic"/>
                <a:cs typeface="Century Gothic"/>
              </a:rPr>
              <a:t>5,199</a:t>
            </a:r>
          </a:p>
          <a:p>
            <a:pPr algn="ctr">
              <a:spcAft>
                <a:spcPts val="0"/>
              </a:spcAft>
            </a:pPr>
            <a:r>
              <a:rPr sz="1250" b="1" i="0">
                <a:solidFill>
                  <a:srgbClr val="14181D"/>
                </a:solidFill>
                <a:latin typeface="Century Gothic"/>
                <a:ea typeface="Century Gothic"/>
                <a:cs typeface="Century Gothic"/>
              </a:rPr>
              <a:t>reviews modelled</a:t>
            </a:r>
          </a:p>
          <a:p>
            <a:pPr algn="ctr">
              <a:spcBef>
                <a:spcPts val="0"/>
              </a:spcBef>
            </a:pPr>
            <a:r>
              <a:rPr sz="1100" b="0" i="0">
                <a:solidFill>
                  <a:srgbClr val="5A6573"/>
                </a:solidFill>
                <a:latin typeface="Yu Gothic"/>
                <a:ea typeface="Yu Gothic"/>
                <a:cs typeface="Yu Gothic"/>
              </a:rPr>
              <a:t>モデル対象の口コミ</a:t>
            </a:r>
          </a:p>
        </p:txBody>
      </p:sp>
      <p:sp>
        <p:nvSpPr>
          <p:cNvPr id="6" name="Rounded Rectangle 5"/>
          <p:cNvSpPr/>
          <p:nvPr/>
        </p:nvSpPr>
        <p:spPr>
          <a:xfrm>
            <a:off x="7818120" y="3703320"/>
            <a:ext cx="3703320" cy="1463040"/>
          </a:xfrm>
          <a:prstGeom prst="roundRect">
            <a:avLst>
              <a:gd name="adj" fmla="val 4000"/>
            </a:avLst>
          </a:prstGeom>
          <a:solidFill>
            <a:srgbClr val="F4F6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200"/>
              </a:spcAft>
            </a:pPr>
            <a:r>
              <a:rPr sz="4200" b="1" i="0">
                <a:solidFill>
                  <a:srgbClr val="16345E"/>
                </a:solidFill>
                <a:latin typeface="Century Gothic"/>
                <a:ea typeface="Century Gothic"/>
                <a:cs typeface="Century Gothic"/>
              </a:rPr>
              <a:t>851</a:t>
            </a:r>
          </a:p>
          <a:p>
            <a:pPr algn="ctr">
              <a:spcAft>
                <a:spcPts val="0"/>
              </a:spcAft>
            </a:pPr>
            <a:r>
              <a:rPr sz="1250" b="1" i="0">
                <a:solidFill>
                  <a:srgbClr val="14181D"/>
                </a:solidFill>
                <a:latin typeface="Century Gothic"/>
                <a:ea typeface="Century Gothic"/>
                <a:cs typeface="Century Gothic"/>
              </a:rPr>
              <a:t>were low-rated</a:t>
            </a:r>
          </a:p>
          <a:p>
            <a:pPr algn="ctr">
              <a:spcBef>
                <a:spcPts val="0"/>
              </a:spcBef>
            </a:pPr>
            <a:r>
              <a:rPr sz="1100" b="0" i="0">
                <a:solidFill>
                  <a:srgbClr val="5A6573"/>
                </a:solidFill>
                <a:latin typeface="Yu Gothic"/>
                <a:ea typeface="Yu Gothic"/>
                <a:cs typeface="Yu Gothic"/>
              </a:rPr>
              <a:t>低評価だった</a:t>
            </a:r>
          </a:p>
        </p:txBody>
      </p:sp>
      <p:sp>
        <p:nvSpPr>
          <p:cNvPr id="7" name="TextBox 6"/>
          <p:cNvSpPr txBox="1"/>
          <p:nvPr/>
        </p:nvSpPr>
        <p:spPr>
          <a:xfrm>
            <a:off x="10058400" y="6437376"/>
            <a:ext cx="1673352" cy="274320"/>
          </a:xfrm>
          <a:prstGeom prst="rect">
            <a:avLst/>
          </a:prstGeom>
          <a:noFill/>
        </p:spPr>
        <p:txBody>
          <a:bodyPr wrap="square" anchor="t" lIns="36576" rIns="36576" tIns="18288" bIns="18288">
            <a:spAutoFit/>
          </a:bodyPr>
          <a:lstStyle/>
          <a:p>
            <a:pPr algn="r"/>
            <a:r>
              <a:rPr sz="1000" b="0" i="0">
                <a:solidFill>
                  <a:srgbClr val="5A6573"/>
                </a:solidFill>
                <a:latin typeface="Century Gothic"/>
                <a:ea typeface="Century Gothic"/>
                <a:cs typeface="Century Gothic"/>
              </a:rPr>
              <a:t>4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310896"/>
          </a:xfrm>
          <a:prstGeom prst="rect">
            <a:avLst/>
          </a:prstGeom>
          <a:noFill/>
        </p:spPr>
        <p:txBody>
          <a:bodyPr wrap="square" anchor="t" lIns="36576" rIns="36576" tIns="18288" bIns="18288">
            <a:spAutoFit/>
          </a:bodyPr>
          <a:lstStyle/>
          <a:p>
            <a:r>
              <a:rPr sz="1300" b="1" i="0" spc="200">
                <a:solidFill>
                  <a:srgbClr val="16345E"/>
                </a:solidFill>
                <a:latin typeface="Century Gothic"/>
                <a:ea typeface="Century Gothic"/>
                <a:cs typeface="Century Gothic"/>
              </a:rPr>
              <a:t>II.  METHODS</a:t>
            </a:r>
          </a:p>
        </p:txBody>
      </p:sp>
      <p:sp>
        <p:nvSpPr>
          <p:cNvPr id="3" name="TextBox 2"/>
          <p:cNvSpPr txBox="1"/>
          <p:nvPr/>
        </p:nvSpPr>
        <p:spPr>
          <a:xfrm>
            <a:off x="548640" y="768096"/>
            <a:ext cx="11094415" cy="1051560"/>
          </a:xfrm>
          <a:prstGeom prst="rect">
            <a:avLst/>
          </a:prstGeom>
          <a:noFill/>
        </p:spPr>
        <p:txBody>
          <a:bodyPr wrap="square" anchor="t" lIns="36576" rIns="36576" tIns="18288" bIns="18288">
            <a:spAutoFit/>
          </a:bodyPr>
          <a:lstStyle/>
          <a:p>
            <a:pPr>
              <a:spcAft>
                <a:spcPts val="200"/>
              </a:spcAft>
            </a:pPr>
            <a:r>
              <a:rPr sz="3200" b="1" i="0">
                <a:solidFill>
                  <a:srgbClr val="16345E"/>
                </a:solidFill>
                <a:latin typeface="Century Gothic"/>
                <a:ea typeface="Century Gothic"/>
                <a:cs typeface="Century Gothic"/>
              </a:rPr>
              <a:t>How we tested it</a:t>
            </a:r>
          </a:p>
          <a:p>
            <a:pPr>
              <a:spcBef>
                <a:spcPts val="0"/>
              </a:spcBef>
            </a:pPr>
            <a:r>
              <a:rPr sz="1500" b="0" i="0">
                <a:solidFill>
                  <a:srgbClr val="5A6573"/>
                </a:solidFill>
                <a:latin typeface="Yu Gothic"/>
                <a:ea typeface="Yu Gothic"/>
                <a:cs typeface="Yu Gothic"/>
              </a:rPr>
              <a:t>どう調べたか</a:t>
            </a:r>
          </a:p>
        </p:txBody>
      </p:sp>
      <p:sp>
        <p:nvSpPr>
          <p:cNvPr id="4" name="TextBox 3"/>
          <p:cNvSpPr txBox="1"/>
          <p:nvPr/>
        </p:nvSpPr>
        <p:spPr>
          <a:xfrm>
            <a:off x="548640" y="1828800"/>
            <a:ext cx="5943600" cy="4206240"/>
          </a:xfrm>
          <a:prstGeom prst="rect">
            <a:avLst/>
          </a:prstGeom>
          <a:noFill/>
        </p:spPr>
        <p:txBody>
          <a:bodyPr wrap="square" anchor="t" lIns="36576" rIns="36576" tIns="18288" bIns="18288">
            <a:spAutoFit/>
          </a:bodyPr>
          <a:lstStyle/>
          <a:p>
            <a:pPr algn="l">
              <a:spcBef>
                <a:spcPts val="0"/>
              </a:spcBef>
              <a:spcAft>
                <a:spcPts val="100"/>
              </a:spcAft>
            </a:pPr>
            <a:r>
              <a:rPr sz="1500" b="0" i="0">
                <a:solidFill>
                  <a:srgbClr val="14181D"/>
                </a:solidFill>
                <a:latin typeface="Century Gothic"/>
                <a:ea typeface="Century Gothic"/>
                <a:cs typeface="Century Gothic"/>
              </a:rPr>
              <a:t>•  For each topic we make a fair comparison: are reviews that mention the problem more likely to be low-rated, after allowing for review length, language, and prefecture?</a:t>
            </a:r>
          </a:p>
          <a:p>
            <a:pPr algn="l">
              <a:spcBef>
                <a:spcPts val="0"/>
              </a:spcBef>
              <a:spcAft>
                <a:spcPts val="1500"/>
              </a:spcAft>
            </a:pPr>
            <a:r>
              <a:rPr sz="1150" b="0" i="0">
                <a:solidFill>
                  <a:srgbClr val="5A6573"/>
                </a:solidFill>
                <a:latin typeface="Yu Gothic"/>
                <a:ea typeface="Yu Gothic"/>
                <a:cs typeface="Yu Gothic"/>
              </a:rPr>
              <a:t>　 各話題で公平に比較する：口コミの長さ・言語・県の違いをそろえた上で、その問題に触れた口コミは低評価になりやすいか？</a:t>
            </a:r>
          </a:p>
          <a:p>
            <a:pPr algn="l">
              <a:spcBef>
                <a:spcPts val="0"/>
              </a:spcBef>
              <a:spcAft>
                <a:spcPts val="100"/>
              </a:spcAft>
            </a:pPr>
            <a:r>
              <a:rPr sz="1500" b="0" i="0">
                <a:solidFill>
                  <a:srgbClr val="14181D"/>
                </a:solidFill>
                <a:latin typeface="Century Gothic"/>
                <a:ea typeface="Century Gothic"/>
                <a:cs typeface="Century Gothic"/>
              </a:rPr>
              <a:t>•  We test many topics, so we tighten the bar to avoid being fooled by chance.</a:t>
            </a:r>
          </a:p>
          <a:p>
            <a:pPr algn="l">
              <a:spcBef>
                <a:spcPts val="0"/>
              </a:spcBef>
              <a:spcAft>
                <a:spcPts val="1500"/>
              </a:spcAft>
            </a:pPr>
            <a:r>
              <a:rPr sz="1150" b="0" i="0">
                <a:solidFill>
                  <a:srgbClr val="5A6573"/>
                </a:solidFill>
                <a:latin typeface="Yu Gothic"/>
                <a:ea typeface="Yu Gothic"/>
                <a:cs typeface="Yu Gothic"/>
              </a:rPr>
              <a:t>　 多くの話題を調べるので、偶然の当たりに惑わされないよう基準を厳しくする。</a:t>
            </a:r>
          </a:p>
          <a:p>
            <a:pPr algn="l">
              <a:spcBef>
                <a:spcPts val="0"/>
              </a:spcBef>
              <a:spcAft>
                <a:spcPts val="100"/>
              </a:spcAft>
            </a:pPr>
            <a:r>
              <a:rPr sz="1500" b="0" i="0">
                <a:solidFill>
                  <a:srgbClr val="14181D"/>
                </a:solidFill>
                <a:latin typeface="Century Gothic"/>
                <a:ea typeface="Century Gothic"/>
                <a:cs typeface="Century Gothic"/>
              </a:rPr>
              <a:t>•  A topic is kept only if the link is solid, points to worse ratings, and appears at least 20 times.</a:t>
            </a:r>
          </a:p>
          <a:p>
            <a:pPr algn="l">
              <a:spcBef>
                <a:spcPts val="0"/>
              </a:spcBef>
              <a:spcAft>
                <a:spcPts val="1500"/>
              </a:spcAft>
            </a:pPr>
            <a:r>
              <a:rPr sz="1150" b="0" i="0">
                <a:solidFill>
                  <a:srgbClr val="5A6573"/>
                </a:solidFill>
                <a:latin typeface="Yu Gothic"/>
                <a:ea typeface="Yu Gothic"/>
                <a:cs typeface="Yu Gothic"/>
              </a:rPr>
              <a:t>　 残すのは、結びつきが確かで、悪い評価の方向で、20回以上現れた話題だけ。</a:t>
            </a:r>
          </a:p>
          <a:p>
            <a:pPr algn="l">
              <a:spcBef>
                <a:spcPts val="0"/>
              </a:spcBef>
              <a:spcAft>
                <a:spcPts val="100"/>
              </a:spcAft>
            </a:pPr>
            <a:r>
              <a:rPr sz="1500" b="0" i="0">
                <a:solidFill>
                  <a:srgbClr val="14181D"/>
                </a:solidFill>
                <a:latin typeface="Century Gothic"/>
                <a:ea typeface="Century Gothic"/>
                <a:cs typeface="Century Gothic"/>
              </a:rPr>
              <a:t>•  We then sort each kept topic into "better information can help" or "the site operator must act."</a:t>
            </a:r>
          </a:p>
          <a:p>
            <a:pPr algn="l">
              <a:spcBef>
                <a:spcPts val="0"/>
              </a:spcBef>
              <a:spcAft>
                <a:spcPts val="0"/>
              </a:spcAft>
            </a:pPr>
            <a:r>
              <a:rPr sz="1150" b="0" i="0">
                <a:solidFill>
                  <a:srgbClr val="5A6573"/>
                </a:solidFill>
                <a:latin typeface="Yu Gothic"/>
                <a:ea typeface="Yu Gothic"/>
                <a:cs typeface="Yu Gothic"/>
              </a:rPr>
              <a:t>　 残った話題を「情報で改善できる」か「事業者の対応が必要」かに振り分ける。</a:t>
            </a:r>
          </a:p>
        </p:txBody>
      </p:sp>
      <p:pic>
        <p:nvPicPr>
          <p:cNvPr id="5" name="Picture 4" descr="methods_simple_figure_decision_rule_funnel_simple.png"/>
          <p:cNvPicPr>
            <a:picLocks noChangeAspect="1"/>
          </p:cNvPicPr>
          <p:nvPr/>
        </p:nvPicPr>
        <p:blipFill>
          <a:blip r:embed="rId2"/>
          <a:stretch>
            <a:fillRect/>
          </a:stretch>
        </p:blipFill>
        <p:spPr>
          <a:xfrm>
            <a:off x="6720840" y="1834286"/>
            <a:ext cx="4937760" cy="3555187"/>
          </a:xfrm>
          <a:prstGeom prst="rect">
            <a:avLst/>
          </a:prstGeom>
        </p:spPr>
      </p:pic>
      <p:sp>
        <p:nvSpPr>
          <p:cNvPr id="6" name="Rounded Rectangle 5"/>
          <p:cNvSpPr/>
          <p:nvPr/>
        </p:nvSpPr>
        <p:spPr>
          <a:xfrm>
            <a:off x="548640" y="5943600"/>
            <a:ext cx="11064240" cy="603504"/>
          </a:xfrm>
          <a:prstGeom prst="roundRect">
            <a:avLst>
              <a:gd name="adj" fmla="val 6000"/>
            </a:avLst>
          </a:prstGeom>
          <a:solidFill>
            <a:srgbClr val="EAF0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82296" bIns="82296"/>
          <a:lstStyle/>
          <a:p>
            <a:pPr algn="l">
              <a:spcBef>
                <a:spcPts val="0"/>
              </a:spcBef>
              <a:spcAft>
                <a:spcPts val="100"/>
              </a:spcAft>
            </a:pPr>
            <a:r>
              <a:rPr sz="1400" b="0" i="0">
                <a:solidFill>
                  <a:srgbClr val="16345E"/>
                </a:solidFill>
                <a:latin typeface="Century Gothic"/>
                <a:ea typeface="Century Gothic"/>
                <a:cs typeface="Century Gothic"/>
              </a:rPr>
              <a:t>This ranks where to run the next experiment. It does not prove that any nudge works.</a:t>
            </a:r>
          </a:p>
          <a:p>
            <a:pPr algn="l">
              <a:spcBef>
                <a:spcPts val="0"/>
              </a:spcBef>
              <a:spcAft>
                <a:spcPts val="0"/>
              </a:spcAft>
            </a:pPr>
            <a:r>
              <a:rPr sz="1150" b="0" i="0">
                <a:solidFill>
                  <a:srgbClr val="5A6573"/>
                </a:solidFill>
                <a:latin typeface="Yu Gothic"/>
                <a:ea typeface="Yu Gothic"/>
                <a:cs typeface="Yu Gothic"/>
              </a:rPr>
              <a:t>これは「次にどこで実験するか」の順位づけ。ナッジの効果を証明するものではない。</a:t>
            </a:r>
          </a:p>
        </p:txBody>
      </p:sp>
      <p:sp>
        <p:nvSpPr>
          <p:cNvPr id="7" name="TextBox 6"/>
          <p:cNvSpPr txBox="1"/>
          <p:nvPr/>
        </p:nvSpPr>
        <p:spPr>
          <a:xfrm>
            <a:off x="10058400" y="6437376"/>
            <a:ext cx="1673352" cy="274320"/>
          </a:xfrm>
          <a:prstGeom prst="rect">
            <a:avLst/>
          </a:prstGeom>
          <a:noFill/>
        </p:spPr>
        <p:txBody>
          <a:bodyPr wrap="square" anchor="t" lIns="36576" rIns="36576" tIns="18288" bIns="18288">
            <a:spAutoFit/>
          </a:bodyPr>
          <a:lstStyle/>
          <a:p>
            <a:pPr algn="r"/>
            <a:r>
              <a:rPr sz="1000" b="0" i="0">
                <a:solidFill>
                  <a:srgbClr val="5A6573"/>
                </a:solidFill>
                <a:latin typeface="Century Gothic"/>
                <a:ea typeface="Century Gothic"/>
                <a:cs typeface="Century Gothic"/>
              </a:rPr>
              <a:t>5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